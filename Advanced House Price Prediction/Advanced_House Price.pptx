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1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66760" y="914400"/>
            <a:ext cx="320040" cy="320040"/>
          </a:xfrm>
          <a:prstGeom prst="ellipse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81160" y="1645920"/>
            <a:ext cx="201168" cy="201168"/>
          </a:xfrm>
          <a:prstGeom prst="ellipse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777240"/>
            <a:ext cx="256032" cy="256032"/>
          </a:xfrm>
          <a:prstGeom prst="ellipse">
            <a:avLst/>
          </a:prstGeom>
          <a:solidFill>
            <a:srgbClr val="1C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0" y="1828800"/>
            <a:ext cx="384048" cy="384048"/>
          </a:xfrm>
          <a:prstGeom prst="ellipse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0" y="2743200"/>
            <a:ext cx="228600" cy="228600"/>
          </a:xfrm>
          <a:prstGeom prst="ellipse">
            <a:avLst/>
          </a:prstGeom>
          <a:solidFill>
            <a:srgbClr val="C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49840" y="3200400"/>
            <a:ext cx="310896" cy="310896"/>
          </a:xfrm>
          <a:prstGeom prst="ellipse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0" y="3931920"/>
            <a:ext cx="201168" cy="201168"/>
          </a:xfrm>
          <a:prstGeom prst="ellipse">
            <a:avLst/>
          </a:prstGeom>
          <a:solidFill>
            <a:srgbClr val="1C8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0" y="5029200"/>
            <a:ext cx="182880" cy="182880"/>
          </a:xfrm>
          <a:prstGeom prst="ellipse">
            <a:avLst/>
          </a:prstGeom>
          <a:solidFill>
            <a:srgbClr val="C276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0" y="5486400"/>
            <a:ext cx="301752" cy="301752"/>
          </a:xfrm>
          <a:prstGeom prst="ellipse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503920" y="1097280"/>
            <a:ext cx="868680" cy="64008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418320" y="914400"/>
            <a:ext cx="914400" cy="82296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332720" y="914400"/>
            <a:ext cx="822960" cy="109728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961120" y="1737360"/>
            <a:ext cx="365760" cy="109728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20" y="2834640"/>
            <a:ext cx="1325880" cy="50292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87000" y="3337560"/>
            <a:ext cx="960120" cy="68580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0" y="4846320"/>
            <a:ext cx="1188720" cy="27432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0" y="5120640"/>
            <a:ext cx="1188720" cy="548640"/>
          </a:xfrm>
          <a:prstGeom prst="line">
            <a:avLst/>
          </a:prstGeom>
          <a:ln w="19050">
            <a:solidFill>
              <a:srgbClr val="4B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685800"/>
            <a:ext cx="67665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200" b="1">
                <a:solidFill>
                  <a:srgbClr val="008BA6"/>
                </a:solidFill>
                <a:latin typeface="Aptos"/>
              </a:rPr>
              <a:t>MACHINE LEARNING • REGRESSION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417320"/>
            <a:ext cx="6583680" cy="1508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3400" b="1">
                <a:solidFill>
                  <a:srgbClr val="222F46"/>
                </a:solidFill>
                <a:latin typeface="Aptos"/>
              </a:rPr>
              <a:t>ADVANCED HOUSE
PRICE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246120"/>
            <a:ext cx="630936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100" b="0">
                <a:solidFill>
                  <a:srgbClr val="5B6A80"/>
                </a:solidFill>
                <a:latin typeface="Aptos"/>
              </a:rPr>
              <a:t>California Housing Prices Dataset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160520"/>
            <a:ext cx="1828800" cy="64008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4480560"/>
            <a:ext cx="6217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0">
                <a:solidFill>
                  <a:srgbClr val="222F46"/>
                </a:solidFill>
                <a:latin typeface="Aptos"/>
              </a:rPr>
              <a:t>A complete workflow from preprocessing to model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080760"/>
            <a:ext cx="65836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100" b="1">
                <a:solidFill>
                  <a:srgbClr val="5B6A80"/>
                </a:solidFill>
                <a:latin typeface="Aptos"/>
              </a:rPr>
              <a:t>TEAM PROJECT  | 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PROJECT CONTRIBUTORS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Meet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1993392"/>
            <a:ext cx="109728" cy="54864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947672"/>
            <a:ext cx="45720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700" b="1">
                <a:solidFill>
                  <a:srgbClr val="222F46"/>
                </a:solidFill>
                <a:latin typeface="Aptos"/>
              </a:rPr>
              <a:t>Abanoub Bassem Bishri Aziz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783080"/>
            <a:ext cx="52120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73951" y="1993392"/>
            <a:ext cx="109728" cy="548640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947672"/>
            <a:ext cx="45720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700" b="1">
                <a:solidFill>
                  <a:srgbClr val="222F46"/>
                </a:solidFill>
                <a:latin typeface="Aptos"/>
              </a:rPr>
              <a:t>Mahmoud Mohamed Ahmed Hegazy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52120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" y="3319272"/>
            <a:ext cx="109728" cy="54864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273552"/>
            <a:ext cx="45720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700" b="1">
                <a:solidFill>
                  <a:srgbClr val="222F46"/>
                </a:solidFill>
                <a:latin typeface="Aptos"/>
              </a:rPr>
              <a:t>Moaz Ahmed Mohamed Elsaeed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108960"/>
            <a:ext cx="52120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73951" y="3319272"/>
            <a:ext cx="109728" cy="548640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3273552"/>
            <a:ext cx="45720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700" b="1">
                <a:solidFill>
                  <a:srgbClr val="222F46"/>
                </a:solidFill>
                <a:latin typeface="Aptos"/>
              </a:rPr>
              <a:t>Youssef Ali Sobhi Emara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2120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" y="4645152"/>
            <a:ext cx="109728" cy="54864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599431"/>
            <a:ext cx="45720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700" b="1">
                <a:solidFill>
                  <a:srgbClr val="222F46"/>
                </a:solidFill>
                <a:latin typeface="Aptos"/>
              </a:rPr>
              <a:t>Mostafa Mohamed Mostafa Mosleh Ali Hassan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434840"/>
            <a:ext cx="521208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73951" y="4645152"/>
            <a:ext cx="109728" cy="548640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4599431"/>
            <a:ext cx="4572000" cy="6583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700" b="1">
                <a:solidFill>
                  <a:srgbClr val="222F46"/>
                </a:solidFill>
                <a:latin typeface="Aptos"/>
              </a:rPr>
              <a:t>Mahmoud Adel Galal Khalil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01 •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675120" cy="9144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500" b="1">
                <a:solidFill>
                  <a:srgbClr val="222F46"/>
                </a:solidFill>
                <a:latin typeface="Aptos"/>
              </a:rPr>
              <a:t>Can we estimate a house’s median value from its characteristics?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6583680" cy="2834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Dataset: California Housing Prices (housing.csv)</a:t>
            </a:r>
          </a:p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Target variable: median_house_value</a:t>
            </a:r>
          </a:p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Task type: supervised learning — regression</a:t>
            </a:r>
          </a:p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Goal: compare baseline and regularized regression models using unseen test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331720"/>
            <a:ext cx="27432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200" b="1">
                <a:solidFill>
                  <a:srgbClr val="008BA6"/>
                </a:solidFill>
                <a:latin typeface="Aptos"/>
              </a:rPr>
              <a:t>PREDICTION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926080"/>
            <a:ext cx="2834640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700" b="1">
                <a:solidFill>
                  <a:srgbClr val="222F46"/>
                </a:solidFill>
                <a:latin typeface="Aptos"/>
              </a:rPr>
              <a:t>Median
House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251960"/>
            <a:ext cx="27432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300" b="0">
                <a:solidFill>
                  <a:srgbClr val="5B6A80"/>
                </a:solidFill>
                <a:latin typeface="Aptos"/>
              </a:rPr>
              <a:t>Continuous numeric value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02 •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End-to-End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920240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Load &amp; split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947672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6A57C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0952" y="1920240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Explore feature 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83080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947672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1920240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Engineer geographic clusters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36391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00984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273551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Handle outliers &amp; missing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136391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3300984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6A57C4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273551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Encode categorical variables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136391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3300984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3273551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Create polynomial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9704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654296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626864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Scale numeric 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4489704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4654296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6A57C4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626864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Train &amp; tune models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489704"/>
            <a:ext cx="34290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4654296"/>
            <a:ext cx="50292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4626864"/>
            <a:ext cx="242316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1">
                <a:solidFill>
                  <a:srgbClr val="222F46"/>
                </a:solidFill>
                <a:latin typeface="Aptos"/>
              </a:rPr>
              <a:t>Evaluate on test set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03 • CLEANING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Data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Split the dataset into 70% training data and 30% test data (random_state = 42).</a:t>
            </a:r>
          </a:p>
          <a:p>
            <a:pPr>
              <a:spcAft>
                <a:spcPts val="10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Applied K-Means clustering to longitude and latitude, creating 10 geographic clusters; then removed the original coordinate columns.</a:t>
            </a:r>
          </a:p>
          <a:p>
            <a:pPr>
              <a:spcAft>
                <a:spcPts val="10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Separated numeric and categorical features for tailored preprocessing.</a:t>
            </a:r>
          </a:p>
          <a:p>
            <a:pPr>
              <a:spcAft>
                <a:spcPts val="10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Clipped numeric outliers using the IQR method and 1.5×IQR fences.</a:t>
            </a:r>
          </a:p>
          <a:p>
            <a:pPr>
              <a:spcAft>
                <a:spcPts val="10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Removed rows with missing target values and dropped features above defined missing-value thresholds.</a:t>
            </a:r>
          </a:p>
          <a:p>
            <a:pPr>
              <a:spcAft>
                <a:spcPts val="10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Imputed numeric missing values with KNNImputer (5 neighbors) and categorical values with training-set modes.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04 •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Encoding, Features &amp;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One-hot encoded categorical features, dropping the first category to reduce redundancy.</a:t>
            </a:r>
          </a:p>
          <a:p>
            <a:pPr>
              <a:spcAft>
                <a:spcPts val="15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Generated degree-2 polynomial features for numeric variables to capture nonlinear relationships and interactions.</a:t>
            </a:r>
          </a:p>
          <a:p>
            <a:pPr>
              <a:spcAft>
                <a:spcPts val="15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Standardized numeric features with StandardScaler.</a:t>
            </a:r>
          </a:p>
          <a:p>
            <a:pPr>
              <a:spcAft>
                <a:spcPts val="15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Used the training data to fit preprocessing steps, then applied the fitted transformations to the test data.</a:t>
            </a:r>
          </a:p>
          <a:p>
            <a:pPr>
              <a:spcAft>
                <a:spcPts val="15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Created two feature sets: the standard processed features and the polynomial-expanded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6636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321808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>
                <a:solidFill>
                  <a:srgbClr val="008BA6"/>
                </a:solidFill>
                <a:latin typeface="Aptos"/>
              </a:rPr>
              <a:t>Key tools: Pandas • scikit-learn • Plotly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05 • UNDERSTANDING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Exploratory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070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Used Plotly visualizations to compare each feature with median house value.</a:t>
            </a:r>
          </a:p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Scatter plots were used for numeric features.</a:t>
            </a:r>
          </a:p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Bar charts of group averages were used for categorical features.</a:t>
            </a:r>
          </a:p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Generated visualizations for both training and test sets to inspect feature–target relationships.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24128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700" b="0">
                <a:solidFill>
                  <a:srgbClr val="5B6A80"/>
                </a:solidFill>
                <a:latin typeface="Aptos"/>
              </a:rPr>
              <a:t>EDA helps reveal patterns before selecting and evaluating predictive models.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06 • REGRESSION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Models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663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46634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6177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400" b="0">
                <a:solidFill>
                  <a:srgbClr val="222F46"/>
                </a:solidFill>
                <a:latin typeface="Aptos"/>
              </a:rPr>
              <a:t>Baseline model using the processed feature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783080"/>
            <a:ext cx="51663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79" y="1947672"/>
            <a:ext cx="46634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6A57C4"/>
                </a:solidFill>
                <a:latin typeface="Aptos"/>
              </a:rPr>
              <a:t>Polynomial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404872"/>
            <a:ext cx="46177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400" b="0">
                <a:solidFill>
                  <a:srgbClr val="222F46"/>
                </a:solidFill>
                <a:latin typeface="Aptos"/>
              </a:rPr>
              <a:t>Linear regression trained on degree-2 polynomial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11880"/>
            <a:ext cx="51663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776472"/>
            <a:ext cx="46634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008BA6"/>
                </a:solidFill>
                <a:latin typeface="Aptos"/>
              </a:rPr>
              <a:t>Lasso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33672"/>
            <a:ext cx="46177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400" b="0">
                <a:solidFill>
                  <a:srgbClr val="222F46"/>
                </a:solidFill>
                <a:latin typeface="Aptos"/>
              </a:rPr>
              <a:t>L1 regularization with 5-fold GridSearchCV to tune alpha.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3611880"/>
            <a:ext cx="51663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79" y="3776472"/>
            <a:ext cx="466344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900" b="1">
                <a:solidFill>
                  <a:srgbClr val="6A57C4"/>
                </a:solidFill>
                <a:latin typeface="Aptos"/>
              </a:rPr>
              <a:t>Ridge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233672"/>
            <a:ext cx="4617720" cy="594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400" b="0">
                <a:solidFill>
                  <a:srgbClr val="222F46"/>
                </a:solidFill>
                <a:latin typeface="Aptos"/>
              </a:rPr>
              <a:t>L2 regularization with 5-fold GridSearchCV to tune alpha.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07 • HOW PERFORMANCE WAS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4805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200" b="1">
                <a:solidFill>
                  <a:srgbClr val="008BA6"/>
                </a:solidFill>
                <a:latin typeface="Aptos"/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4805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0">
                <a:solidFill>
                  <a:srgbClr val="222F46"/>
                </a:solidFill>
                <a:latin typeface="Aptos"/>
              </a:rPr>
              <a:t>Average prediction error scale; lower is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292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48056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200" b="1">
                <a:solidFill>
                  <a:srgbClr val="6A57C4"/>
                </a:solidFill>
                <a:latin typeface="Aptos"/>
              </a:rPr>
              <a:t>R²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60320"/>
            <a:ext cx="448056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500" b="0">
                <a:solidFill>
                  <a:srgbClr val="222F46"/>
                </a:solidFill>
                <a:latin typeface="Aptos"/>
              </a:rPr>
              <a:t>Proportion of target variance explained; higher is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24128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All models were evaluated on the held-out test set.</a:t>
            </a:r>
          </a:p>
          <a:p>
            <a:pPr>
              <a:spcAft>
                <a:spcPts val="1300"/>
              </a:spcAft>
              <a:defRPr sz="17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GridSearchCV used 5-fold cross-validation for Lasso and Ridge alpha selection.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08 • TEST-SET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Results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3749039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200" b="1">
                <a:solidFill>
                  <a:srgbClr val="008BA6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01952"/>
            <a:ext cx="25603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100" b="1">
                <a:solidFill>
                  <a:srgbClr val="008BA6"/>
                </a:solidFill>
                <a:latin typeface="Aptos"/>
              </a:rPr>
              <a:t>RMSE (LOWER IS BETTER)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01952"/>
            <a:ext cx="21945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100" b="1">
                <a:solidFill>
                  <a:srgbClr val="008BA6"/>
                </a:solidFill>
                <a:latin typeface="Aptos"/>
              </a:rPr>
              <a:t>R² (HIGHER IS BETTER)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36576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Linear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624328"/>
            <a:ext cx="25603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1C8E68"/>
                </a:solidFill>
                <a:latin typeface="Aptos"/>
              </a:rPr>
              <a:t>70,496.03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24328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0.6214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27832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36576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Polynomial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337560"/>
            <a:ext cx="25603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115,096.04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337560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C27618"/>
                </a:solidFill>
                <a:latin typeface="Aptos"/>
              </a:rPr>
              <a:t>-0.0093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41064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050792"/>
            <a:ext cx="36576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Lasso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50792"/>
            <a:ext cx="25603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1C8E68"/>
                </a:solidFill>
                <a:latin typeface="Aptos"/>
              </a:rPr>
              <a:t>70,496.03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050792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0.6214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54296"/>
            <a:ext cx="107899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764024"/>
            <a:ext cx="36576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Ridge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764024"/>
            <a:ext cx="25603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70,496.71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764024"/>
            <a:ext cx="20116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600" b="1">
                <a:solidFill>
                  <a:srgbClr val="222F46"/>
                </a:solidFill>
                <a:latin typeface="Aptos"/>
              </a:rPr>
              <a:t>0.6214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1042416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400" b="0">
                <a:solidFill>
                  <a:srgbClr val="5B6A80"/>
                </a:solidFill>
                <a:latin typeface="Aptos"/>
              </a:rPr>
              <a:t>Lasso selected alpha = 0.01 (19/19 features retained); Ridge selected alpha = 0.1.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09 •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What the Results Tell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6070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Linear Regression and Lasso achieved nearly identical results (R² ≈ 0.6214).</a:t>
            </a:r>
          </a:p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Ridge performed almost identically, with a slightly higher RMSE.</a:t>
            </a:r>
          </a:p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Polynomial Regression performed poorly on this test split (negative R²), so adding degree-2 terms did not improve this implementation.</a:t>
            </a:r>
          </a:p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The best observed test RMSE was about 70,496, while the best R² was about 0.6214.</a:t>
            </a:r>
          </a:p>
          <a:p>
            <a:pPr>
              <a:spcAft>
                <a:spcPts val="1400"/>
              </a:spcAft>
              <a:defRPr sz="18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These results provide a useful baseline; further tuning and validation may improve generalization.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1000" b="1">
                <a:solidFill>
                  <a:srgbClr val="008BA6"/>
                </a:solidFill>
                <a:latin typeface="Aptos"/>
              </a:rPr>
              <a:t>10 •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r>
              <a:rPr sz="2900" b="1">
                <a:solidFill>
                  <a:srgbClr val="222F46"/>
                </a:solidFill>
                <a:latin typeface="Aptos"/>
              </a:rPr>
              <a:t>Conclusion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1051560" cy="50292"/>
          </a:xfrm>
          <a:prstGeom prst="rect">
            <a:avLst/>
          </a:prstGeom>
          <a:solidFill>
            <a:srgbClr val="6A5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Built a complete regression workflow: data exploration, cleaning, feature engineering, preprocessing, model training, and evaluation.</a:t>
            </a:r>
          </a:p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Compared four regression approaches, including L1 and L2 regularization.</a:t>
            </a:r>
          </a:p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Linear Regression and Lasso were the strongest models in the recorded results.</a:t>
            </a:r>
          </a:p>
          <a:p>
            <a:pPr>
              <a:spcAft>
                <a:spcPts val="1800"/>
              </a:spcAft>
              <a:defRPr sz="1900">
                <a:solidFill>
                  <a:srgbClr val="F4F7FF"/>
                </a:solidFill>
                <a:latin typeface="Aptos"/>
              </a:defRPr>
            </a:pPr>
            <a:r>
              <a:rPr>
                <a:solidFill/>
              </a:rPr>
              <a:t>•  Next steps: investigate feature importance, try tree-based regressors, validate preprocessing in a unified Pipeline, and analyze residuals.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94960"/>
            <a:ext cx="105156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559552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800" b="1">
                <a:solidFill>
                  <a:srgbClr val="008BA6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764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Moaz Ahmed ElSaeed Abo ELSoud</cp:lastModifiedBy>
  <cp:revision>2</cp:revision>
  <dcterms:created xsi:type="dcterms:W3CDTF">2013-01-27T09:14:16Z</dcterms:created>
  <dcterms:modified xsi:type="dcterms:W3CDTF">2026-10-22T09:29:51Z</dcterms:modified>
  <cp:category/>
</cp:coreProperties>
</file>